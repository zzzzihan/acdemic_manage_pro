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20"/>
  </p:handoutMasterIdLst>
  <p:sldIdLst>
    <p:sldId id="260" r:id="rId4"/>
    <p:sldId id="286" r:id="rId6"/>
    <p:sldId id="289" r:id="rId7"/>
    <p:sldId id="344" r:id="rId8"/>
    <p:sldId id="356" r:id="rId9"/>
    <p:sldId id="346" r:id="rId10"/>
    <p:sldId id="357" r:id="rId11"/>
    <p:sldId id="342" r:id="rId12"/>
    <p:sldId id="360" r:id="rId13"/>
    <p:sldId id="355" r:id="rId14"/>
    <p:sldId id="358" r:id="rId15"/>
    <p:sldId id="361" r:id="rId16"/>
    <p:sldId id="362" r:id="rId17"/>
    <p:sldId id="363" r:id="rId18"/>
    <p:sldId id="339" r:id="rId19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236C"/>
    <a:srgbClr val="255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3" d="100"/>
          <a:sy n="63" d="100"/>
        </p:scale>
        <p:origin x="780" y="88"/>
      </p:cViewPr>
      <p:guideLst>
        <p:guide orient="horz" pos="2170"/>
        <p:guide pos="38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2155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2F430-4740-40B5-85C9-2086213972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8A98F-62F7-4FC1-8793-2AC85E1AC76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103367" y="6372416"/>
            <a:ext cx="3600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chemeClr val="lt1">
                    <a:lumMod val="50000"/>
                  </a:schemeClr>
                </a:solidFill>
                <a:effectLst/>
                <a:latin typeface="方正舒体" panose="02010601030101010101" pitchFamily="2" charset="-122"/>
                <a:ea typeface="方正舒体" panose="02010601030101010101" pitchFamily="2" charset="-122"/>
              </a:rPr>
              <a:t>严谨、严格、求实、求是</a:t>
            </a:r>
            <a:endParaRPr lang="zh-CN" altLang="en-US" sz="2000" b="0" i="0" dirty="0">
              <a:solidFill>
                <a:schemeClr val="lt1">
                  <a:lumMod val="50000"/>
                </a:schemeClr>
              </a:solidFill>
              <a:effectLst/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832" y="-287646"/>
            <a:ext cx="2991214" cy="14188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F5C7D-8D99-4A34-A1E2-2DE24A067E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C24F6-D578-4DD4-A737-07C2BD280F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8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9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hemeOverride" Target="../theme/themeOverride10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hemeOverride" Target="../theme/themeOverride1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1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3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hemeOverride" Target="../theme/themeOverride14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hyperlink" Target="https://github.com/ZZZZihan/Acdemic_manage_pro" TargetMode="Externa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5.xml"/><Relationship Id="rId3" Type="http://schemas.openxmlformats.org/officeDocument/2006/relationships/themeOverride" Target="../theme/themeOverride15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42" y="211432"/>
            <a:ext cx="11803316" cy="55260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342" y="211432"/>
            <a:ext cx="11809309" cy="55260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汇报人：徐子晗</a:t>
            </a:r>
            <a:endParaRPr lang="zh-CN" altLang="en-US" dirty="0">
              <a:solidFill>
                <a:sysClr val="window" lastClr="FFFF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4743" y="2091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>
                <a:sym typeface="+mn-ea"/>
              </a:rPr>
              <a:t>“</a:t>
            </a:r>
            <a:r>
              <a:rPr>
                <a:sym typeface="+mn-ea"/>
              </a:rPr>
              <a:t>基于</a:t>
            </a:r>
            <a:r>
              <a:rPr lang="en-US">
                <a:sym typeface="+mn-ea"/>
              </a:rPr>
              <a:t>Flask</a:t>
            </a:r>
            <a:r>
              <a:rPr lang="zh-CN" altLang="en-US">
                <a:sym typeface="+mn-ea"/>
              </a:rPr>
              <a:t>的实验室科研知识管理系统</a:t>
            </a:r>
            <a:r>
              <a:rPr lang="en-US">
                <a:sym typeface="+mn-ea"/>
              </a:rPr>
              <a:t>”</a:t>
            </a:r>
            <a:endParaRPr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sz="4400" dirty="0">
                <a:solidFill>
                  <a:sysClr val="window" lastClr="FFFFFF"/>
                </a:solidFill>
              </a:rPr>
              <a:t>项目展示</a:t>
            </a:r>
            <a:endParaRPr lang="zh-CN" altLang="en-US" sz="4400" dirty="0">
              <a:solidFill>
                <a:sysClr val="window" lastClr="FFFFFF"/>
              </a:solidFill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182168" y="435267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752" y="-200968"/>
            <a:ext cx="6532495" cy="30986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856855" y="-48380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19835" y="-1430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2430" y="2040890"/>
            <a:ext cx="3595370" cy="373126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8150" y="2104390"/>
            <a:ext cx="3415030" cy="419354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目前，传统实验室管理模式存在一些明显的局限性：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等线" panose="02010600030101010101" charset="-122"/>
              <a:ea typeface="阿里巴巴普惠体 R"/>
              <a:cs typeface="阿里巴巴普惠体 M" panose="00020600040101010101" pitchFamily="18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•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首先，协作效率较低，团队成员之间的沟通和任务分配通常依赖线下或零散的线上工具，难以实现高效协作。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等线" panose="02010600030101010101" charset="-122"/>
              <a:ea typeface="阿里巴巴普惠体 R"/>
              <a:cs typeface="阿里巴巴普惠体 M" panose="00020600040101010101" pitchFamily="18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•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其次，信息分散问题较为突出，不同的项目数据和实验记录分散存储，导致知识积累和查阅困难。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等线" panose="02010600030101010101" charset="-122"/>
              <a:ea typeface="阿里巴巴普惠体 R"/>
              <a:cs typeface="阿里巴巴普惠体 M" panose="00020600040101010101" pitchFamily="18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•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总体上，这种模式难以满足现代科研中对知识积累和项目管理的需求。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等线" panose="02010600030101010101" charset="-122"/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41" name="圆角矩形 6"/>
          <p:cNvSpPr/>
          <p:nvPr/>
        </p:nvSpPr>
        <p:spPr>
          <a:xfrm>
            <a:off x="414020" y="993775"/>
            <a:ext cx="3439795" cy="515620"/>
          </a:xfrm>
          <a:prstGeom prst="roundRect">
            <a:avLst>
              <a:gd name="adj" fmla="val 37046"/>
            </a:avLst>
          </a:prstGeom>
          <a:gradFill flip="none" rotWithShape="1">
            <a:gsLst>
              <a:gs pos="53000">
                <a:schemeClr val="accent1"/>
              </a:gs>
              <a:gs pos="95000">
                <a:schemeClr val="accent1"/>
              </a:gs>
              <a:gs pos="0">
                <a:schemeClr val="accent1"/>
              </a:gs>
            </a:gsLst>
            <a:lin ang="207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38150" y="1073150"/>
            <a:ext cx="328041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2400" b="1">
                <a:solidFill>
                  <a:srgbClr val="A5353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传统实验室管理模式的不足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74185" y="2040890"/>
            <a:ext cx="3595370" cy="373126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圆角矩形 6"/>
          <p:cNvSpPr/>
          <p:nvPr/>
        </p:nvSpPr>
        <p:spPr>
          <a:xfrm>
            <a:off x="4274185" y="1003300"/>
            <a:ext cx="3439795" cy="515620"/>
          </a:xfrm>
          <a:prstGeom prst="roundRect">
            <a:avLst>
              <a:gd name="adj" fmla="val 37046"/>
            </a:avLst>
          </a:prstGeom>
          <a:gradFill flip="none" rotWithShape="1">
            <a:gsLst>
              <a:gs pos="53000">
                <a:schemeClr val="accent1"/>
              </a:gs>
              <a:gs pos="95000">
                <a:schemeClr val="accent1"/>
              </a:gs>
              <a:gs pos="0">
                <a:schemeClr val="accent1"/>
              </a:gs>
            </a:gsLst>
            <a:lin ang="207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53560" y="1073150"/>
            <a:ext cx="328041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2400" b="1">
                <a:solidFill>
                  <a:srgbClr val="A5353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科研需求的变化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圆角矩形 6"/>
          <p:cNvSpPr/>
          <p:nvPr/>
        </p:nvSpPr>
        <p:spPr>
          <a:xfrm>
            <a:off x="8269605" y="997585"/>
            <a:ext cx="3439795" cy="515620"/>
          </a:xfrm>
          <a:prstGeom prst="roundRect">
            <a:avLst>
              <a:gd name="adj" fmla="val 37046"/>
            </a:avLst>
          </a:prstGeom>
          <a:gradFill flip="none" rotWithShape="1">
            <a:gsLst>
              <a:gs pos="53000">
                <a:schemeClr val="accent1"/>
              </a:gs>
              <a:gs pos="95000">
                <a:schemeClr val="accent1"/>
              </a:gs>
              <a:gs pos="0">
                <a:schemeClr val="accent1"/>
              </a:gs>
            </a:gsLst>
            <a:lin ang="207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48980" y="1073150"/>
            <a:ext cx="328041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2400" b="1">
                <a:solidFill>
                  <a:srgbClr val="A5353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解决方案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269605" y="2040890"/>
            <a:ext cx="3595370" cy="373126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298950" y="2040890"/>
            <a:ext cx="3415030" cy="419354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随着科研工作的深入，科研需求也在发生变化：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等线" panose="02010600030101010101" charset="-122"/>
              <a:ea typeface="阿里巴巴普惠体 R"/>
              <a:cs typeface="阿里巴巴普惠体 M" panose="00020600040101010101" pitchFamily="18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•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科研团队对技术交流、成果展示的需求日益增长，同时对数据的统一管理和高效共享提出了更高要求。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等线" panose="02010600030101010101" charset="-122"/>
              <a:ea typeface="阿里巴巴普惠体 R"/>
              <a:cs typeface="阿里巴巴普惠体 M" panose="00020600040101010101" pitchFamily="18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•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因此，传统管理方式已经不能适应这些日益复杂的科研场景。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等线" panose="02010600030101010101" charset="-122"/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90560" y="2040890"/>
            <a:ext cx="3415030" cy="419354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针对上述问题，我的研究提出了一个基于现代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 Web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技术的解决方案：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等线" panose="02010600030101010101" charset="-122"/>
              <a:ea typeface="阿里巴巴普惠体 R"/>
              <a:cs typeface="阿里巴巴普惠体 M" panose="00020600040101010101" pitchFamily="18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•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我计划开发一个实验室知识管理系统，以解决协作低效和信息分散的问题。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等线" panose="02010600030101010101" charset="-122"/>
              <a:ea typeface="阿里巴巴普惠体 R"/>
              <a:cs typeface="阿里巴巴普惠体 M" panose="00020600040101010101" pitchFamily="18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•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在功能设计上，参考了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 Notion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等线" panose="02010600030101010101" charset="-122"/>
                <a:ea typeface="阿里巴巴普惠体 R"/>
                <a:cs typeface="阿里巴巴普惠体 M" panose="00020600040101010101" pitchFamily="18" charset="-122"/>
              </a:rPr>
              <a:t>的核心理念，将知识管理与项目管理融为一体，为科研团队提供一个综合性的管理工具。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等线" panose="02010600030101010101" charset="-122"/>
              <a:ea typeface="阿里巴巴普惠体 R"/>
              <a:cs typeface="阿里巴巴普惠体 M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研究的目的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和意义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287645" y="1332865"/>
            <a:ext cx="6626225" cy="3388995"/>
          </a:xfrm>
          <a:prstGeom prst="rect">
            <a:avLst/>
          </a:prstGeom>
        </p:spPr>
        <p:txBody>
          <a:bodyPr wrap="square">
            <a:noAutofit/>
          </a:bodyPr>
          <a:p>
            <a:pPr lvl="0"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这个项目是一个综合性的学术管理平台，主要目标是帮助高校实验室更高效地管理学术资源和日常事务。我们实现了用户管理、实验室设备管理、文档管理以及基于</a:t>
            </a:r>
            <a:r>
              <a:rPr lang="en-US" altLang="zh-CN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技术的智能问答系统。特别是</a:t>
            </a:r>
            <a:r>
              <a:rPr lang="en-US" altLang="zh-CN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功能，我们通过向量化实验室管理文档，使系统能够智能回答用户关于实验室管理的各种问题，大大提高了信息检索效率。项目采用前后端分离架构，后端使用</a:t>
            </a:r>
            <a:r>
              <a:rPr lang="en-US" altLang="zh-CN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Flask</a:t>
            </a:r>
            <a:r>
              <a:rPr lang="zh-CN" altLang="en-US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框架，前端采用</a:t>
            </a:r>
            <a:r>
              <a:rPr lang="en-US" altLang="zh-CN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Vue.js</a:t>
            </a:r>
            <a:r>
              <a:rPr lang="zh-CN" altLang="en-US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，数据库使用</a:t>
            </a:r>
            <a:r>
              <a:rPr lang="en-US" altLang="zh-CN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PostgreSQL</a:t>
            </a:r>
            <a:r>
              <a:rPr lang="zh-CN" altLang="en-US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，并集成了多种开源</a:t>
            </a:r>
            <a:r>
              <a:rPr lang="en-US" altLang="zh-CN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NLP</a:t>
            </a:r>
            <a:r>
              <a:rPr lang="zh-CN" altLang="en-US" sz="240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模型。</a:t>
            </a:r>
            <a:endParaRPr lang="zh-CN" altLang="en-US" sz="2400" kern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/Users/xuzihan/Library/Containers/com.kingsoft.wpsoffice.mac/Data/tmp/picturecompress_20250327094132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05" y="1798955"/>
            <a:ext cx="4848225" cy="3710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3.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技术方案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280" y="1605915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技术方案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04610" y="1605915"/>
            <a:ext cx="5509260" cy="4326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本系统前端采用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Vue 3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作为核心框架，配合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Vite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构建工具实现高效的开发体验。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UI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层面使用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Element Plus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组件库，确保了界面的美观性和一致性。状态管理采用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Pinia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，相比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Vuex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提供了更好的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TypeScript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支持和更简洁的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API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。路由管理使用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Vue Router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实现单页应用的导航功能。系统支持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Markdown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编辑、文件上传、知识检索等核心功能组件，通过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Axios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进行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HTTP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通信，实现了与后端的无缝对接。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13" name="图片 12" descr="截屏2025-03-27 10.14.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2013585"/>
            <a:ext cx="6072505" cy="3514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3.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技术方案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280" y="1605915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技术方案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04610" y="1605915"/>
            <a:ext cx="5509260" cy="4326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后端采用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Flask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框架搭建，提供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RESTful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风格的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API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接口。数据持久化层使用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SQLAlchemy ORM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框架，支持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SQLite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和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MySQL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数据库。系统集成了先进的混合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架构，支持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OpenAI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DeepSeek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等多个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服务提供商，并通过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Ollama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实现本地模型部署。知识库管理采用向量数据库存储，结合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RAG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（检索增强生成）技术提升问答质量。安全认证采用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JWT Token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机制，实现了完整的用户认证和权限控制体系。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3" name="图片 2" descr="截屏2025-03-27 10.14.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665" y="1717040"/>
            <a:ext cx="5508625" cy="4257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4. </a:t>
            </a:r>
            <a:r>
              <a:rPr lang="zh-CN" altLang="en-US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核心功能模块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280" y="1605915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实验室成果展示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52615" y="1467485"/>
            <a:ext cx="4558665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主要内容：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系统将提供一个成果展示板块，用于集中展示实验室的科研成果，例如发表的论文、获得的专利等。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•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该模块方便实验室成员及外界快速了解实验室的研究进展，同时增强实验室的成果宣传。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13" name="图片 12" descr="截屏2025-03-27 10.26.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415" y="1647825"/>
            <a:ext cx="6047105" cy="3928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4. </a:t>
            </a:r>
            <a:r>
              <a:rPr lang="zh-CN" altLang="en-US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核心功能模块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280" y="1605915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实验室成果展示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71285" y="1042035"/>
            <a:ext cx="54419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主要内容：</a:t>
            </a:r>
            <a:b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</a:b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系统在首页实现了实验室成果的自动展示功能，通过前端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Vue 3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框架调用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/api/v1/achievements/latest?limit=10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接口获取最新的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10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条成果数据，每条成果包含标题、描述和图片等信息，图片通过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/api/v1/files/download/uploads/projects/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路径访问，后端使用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Flask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框架提供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RESTful API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接口，采用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SQLAlchemy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进行数据库操作，支持分页查询和按时间排序，整个展示过程自动化且实时更新，为用户提供直观的实验室成果展示界面。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3" name="图片 2" descr="截屏2025-03-27 10.27.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65" y="1548765"/>
            <a:ext cx="6165215" cy="3608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4. </a:t>
            </a:r>
            <a:r>
              <a:rPr lang="zh-CN" altLang="en-US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核心功能模块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280" y="1605915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技术总结与交流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82640" y="1467485"/>
            <a:ext cx="523748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之前我的老师将一些经验性的网站的内容都存储在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QQ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空间的日志里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b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</a:b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从信息管理上看，分类和检索功能都比较弱，难以高效地整理和查找内容；在展示方面，排版和视觉效果受限，无法充分呈现内容的丰富性和专业性；至于数据安全和长期保存，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QQ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空间日志存在数据安全隐患和保存不确定性的问题，这些缺点使得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QQ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空间志日并不是存储和分享经验性内容的理想选择。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11" name="图片 10" descr="截屏2025-03-26 22.09.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" y="1626235"/>
            <a:ext cx="4901565" cy="442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4. </a:t>
            </a:r>
            <a:r>
              <a:rPr lang="zh-CN" altLang="en-US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核心功能模块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280" y="1605915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技术总结与交流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35650" y="999490"/>
            <a:ext cx="602107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主要内容：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技术总结模块是实验室知识管理系统的核心功能之一，采用前后端分离架构，结合向量数据库和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RAG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技术实现智能化的知识管理。该模块通过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/api/v1/tech_summaries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接口提供服务，支持技术文档的添加、检索和智能问答功能。系统使用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DeepSeek API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进行文档总结和知识提取，通过向量数据库存储文档特征，实现基于语义的相似文档检索，同时整合了多个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模型（包括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OpenAI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DeepSeek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和本地部署的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Ollama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）提供智能问答服务，确保技术知识的高效管理和快速检索。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3" name="图片 2" descr="截屏2025-03-27 10.44.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2233930"/>
            <a:ext cx="5407660" cy="3080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4. </a:t>
            </a:r>
            <a:r>
              <a:rPr lang="zh-CN" altLang="en-US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核心功能模块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280" y="1605915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技术总结与交流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007610" y="955040"/>
            <a:ext cx="7184390" cy="2560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自动总结</a:t>
            </a:r>
            <a:r>
              <a:rPr lang="en-US" altLang="zh-CN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endParaRPr lang="zh-CN" altLang="en-US" sz="2400" b="1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本系统采用了智能化的技术文档处理流程，通过网络爬虫自动抓取技术文章内容，结合大模型的文本理解和生成能力，对文章进行智能化总结和知识提取。自动生成标题、标签和内容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。</a:t>
            </a:r>
            <a:endParaRPr lang="en-US" altLang="zh-CN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13" name="图片 12" descr="截屏2025-03-27 13.38.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80" y="1568450"/>
            <a:ext cx="4016375" cy="1803400"/>
          </a:xfrm>
          <a:prstGeom prst="rect">
            <a:avLst/>
          </a:prstGeom>
        </p:spPr>
      </p:pic>
      <p:pic>
        <p:nvPicPr>
          <p:cNvPr id="14" name="图片 13" descr="截屏2025-03-27 13.38.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" y="3736975"/>
            <a:ext cx="5839460" cy="3030855"/>
          </a:xfrm>
          <a:prstGeom prst="rect">
            <a:avLst/>
          </a:prstGeom>
        </p:spPr>
      </p:pic>
      <p:pic>
        <p:nvPicPr>
          <p:cNvPr id="15" name="图片 14" descr="截屏2025-03-27 13.42.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765" y="3147695"/>
            <a:ext cx="5316220" cy="3453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4. </a:t>
            </a:r>
            <a:r>
              <a:rPr lang="zh-CN" altLang="en-US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核心功能模块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2430" y="1682750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技术总结与交流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2430" y="1605915"/>
            <a:ext cx="664718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混合</a:t>
            </a:r>
            <a:r>
              <a:rPr lang="en-US" altLang="zh-CN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架构设计</a:t>
            </a:r>
            <a:endParaRPr lang="zh-CN" altLang="en-US" sz="2400" b="1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本系统采用创新的混合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架构设计，通过集成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OpenAI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DeepSeek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和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Ollama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三种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服务，实现了智能服务的多样性和可靠性。系统具备智能服务切换机制，当某个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服务不可用时，能够自动切换到其他可用服务，确保系统的持续运行；同时，通过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Ollama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框架支持模型的本地部署，既保护了敏感数据的隐私安全，又降低了对外部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服务的依赖，使得系统在离线环境下依然能够保持核心功能的正常运行，充分体现了系统在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服务集成方面的灵活性和可靠性。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11" name="图片 10" descr="imag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6980" y="3880485"/>
            <a:ext cx="1680210" cy="1680210"/>
          </a:xfrm>
          <a:prstGeom prst="rect">
            <a:avLst/>
          </a:prstGeom>
        </p:spPr>
      </p:pic>
      <p:pic>
        <p:nvPicPr>
          <p:cNvPr id="13" name="图片 12" descr="截屏2025-03-27 11.05.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3755390"/>
            <a:ext cx="1855470" cy="1805305"/>
          </a:xfrm>
          <a:prstGeom prst="rect">
            <a:avLst/>
          </a:prstGeom>
        </p:spPr>
      </p:pic>
      <p:pic>
        <p:nvPicPr>
          <p:cNvPr id="14" name="图片 13" descr="Deepseek 图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830" y="1139190"/>
            <a:ext cx="2087880" cy="2087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4. </a:t>
            </a:r>
            <a:r>
              <a:rPr lang="zh-CN" altLang="en-US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核心功能模块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280" y="1605915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技术总结与交流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92800" y="1022350"/>
            <a:ext cx="602107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RAG</a:t>
            </a:r>
            <a:r>
              <a:rPr lang="zh-CN" altLang="en-US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技术增强的问答系统</a:t>
            </a:r>
            <a:endParaRPr lang="zh-CN" altLang="en-US" sz="2400" b="1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本系统采用了先进的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RAG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（检索增强生成）技术与混合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架构的创新结合，通过整合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OpenAI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DeepSeek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和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Ollama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三种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服务，实现了高效的知识管理和智能问答功能。使用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sentence-transformers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框架和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paraphrase-multilingual-MiniLM-L12-v2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模型进行文本向量化，处理性能达到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80-90 it/s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，支持中英文等多语言检索。当用户提出问题时，系统首先对问题进行向量化处理，然后通过向量相似度检索找到最相关的文档片段，同时结合关键词检索提高准确性。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14" name="图片 13" descr="截屏2025-03-28 11.28.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" y="1513840"/>
            <a:ext cx="5687695" cy="1854200"/>
          </a:xfrm>
          <a:prstGeom prst="rect">
            <a:avLst/>
          </a:prstGeom>
        </p:spPr>
      </p:pic>
      <p:pic>
        <p:nvPicPr>
          <p:cNvPr id="13" name="图片 12" descr="截屏2025-03-27 13.52.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465" y="3447415"/>
            <a:ext cx="3917950" cy="3032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4. </a:t>
            </a:r>
            <a:r>
              <a:rPr lang="zh-CN" altLang="en-US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核心功能模块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280" y="1605915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技术总结与交流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35650" y="812800"/>
            <a:ext cx="602107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RAG</a:t>
            </a:r>
            <a:r>
              <a:rPr lang="zh-CN" altLang="en-US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技术增强的问答系统实现</a:t>
            </a:r>
            <a:r>
              <a:rPr lang="zh-CN" altLang="en-US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流程</a:t>
            </a:r>
            <a:endParaRPr lang="zh-CN" altLang="en-US" sz="2400" b="1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当用户输入查询后，系统首先使用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paraphrase-multilingual-MiniLM-L12-v2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模型将查询文本向量化，该模型运行在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MPS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Metal Performance Shaders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）硬件加速环境下，处理速度达到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80-90 it/s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。系统会在已加载技术文档中进行向量相似度检索，同时结合关键词匹配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（确保检索结果的全面性。检索到的文档片段作为上下文被发送到混合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服务中，优先使用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DeepSeek API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生成回答，如果发生超时（如日志中的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"DeepSeek API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请求异常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: HTTPSConnectionPool"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），系统会自动切换到其他可用的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服务，整个过程实现了知识的精准检索和智能问答的无缝集成。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13" name="图片 12" descr="RAG 图片搜索结果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" y="1893570"/>
            <a:ext cx="5631180" cy="3145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5. </a:t>
            </a:r>
            <a:r>
              <a:rPr lang="zh-CN" altLang="en-US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未来的</a:t>
            </a:r>
            <a:r>
              <a:rPr lang="zh-CN" altLang="en-US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sym typeface="+mn-ea"/>
              </a:rPr>
              <a:t>展望</a:t>
            </a:r>
            <a:endParaRPr lang="zh-CN" altLang="en-US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" name="箭头: 五边形 19"/>
          <p:cNvSpPr/>
          <p:nvPr/>
        </p:nvSpPr>
        <p:spPr>
          <a:xfrm>
            <a:off x="392430" y="944880"/>
            <a:ext cx="4016375" cy="522605"/>
          </a:xfrm>
          <a:prstGeom prst="homePlat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3975" y="206350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请在此输入标题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280" y="1605915"/>
            <a:ext cx="1104265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4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2430" y="977900"/>
            <a:ext cx="401637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未来的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35650" y="812800"/>
            <a:ext cx="6021070" cy="4845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1.</a:t>
            </a:r>
            <a:r>
              <a:rPr lang="zh-CN" altLang="en-US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多模态支持</a:t>
            </a:r>
            <a:endParaRPr lang="zh-CN" altLang="en-US" sz="2400" b="1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增加图像识别组件，处理图表和示意图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支持表格数据的结构化提取和查询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整合音频数据处理能力（如会议记录）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2.</a:t>
            </a:r>
            <a:r>
              <a:rPr lang="zh-CN" altLang="en-US" sz="2400" b="1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检索算法升级</a:t>
            </a:r>
            <a:endParaRPr lang="zh-CN" altLang="en-US" sz="2400" b="1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引入混合检索策略（向量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+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关键词</a:t>
            </a:r>
            <a:r>
              <a:rPr lang="en-US" altLang="zh-CN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+</a:t>
            </a: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语义结构）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实现基于用户反馈的结果排序优化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3236C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增加上下文感知的检索机制，提高问答准确性</a:t>
            </a:r>
            <a:endParaRPr lang="zh-CN" altLang="en-US" sz="2000">
              <a:solidFill>
                <a:srgbClr val="73236C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   </a:t>
            </a:r>
            <a:r>
              <a:rPr lang="zh-CN" altLang="en-US" sz="2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项目地址</a:t>
            </a:r>
            <a:r>
              <a:rPr lang="en-US" altLang="zh-CN" sz="2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  <a:hlinkClick r:id="rId1" action="ppaction://hlinkfile"/>
              </a:rPr>
              <a:t>https://github.com/ZZZZihan/Acdemic_manage_pro</a:t>
            </a:r>
            <a:endParaRPr lang="en-US" altLang="zh-CN" sz="20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3" name="图片 2" descr="截屏2025-03-28 13.16.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" y="1605915"/>
            <a:ext cx="4900295" cy="4792345"/>
          </a:xfrm>
          <a:prstGeom prst="rect">
            <a:avLst/>
          </a:prstGeom>
        </p:spPr>
      </p:pic>
      <p:pic>
        <p:nvPicPr>
          <p:cNvPr id="11" name="图片 10" descr="GitHub 图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095" y="4707255"/>
            <a:ext cx="554355" cy="521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49" y="211432"/>
            <a:ext cx="11809308" cy="55260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342" y="211432"/>
            <a:ext cx="11809309" cy="55260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徐子晗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60490" y="6033770"/>
            <a:ext cx="2731135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指导老师：刘伟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629680" y="2881497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5000"/>
              </a:lnSpc>
              <a:defRPr/>
            </a:pPr>
            <a:r>
              <a:rPr lang="zh-CN" altLang="en-US" dirty="0">
                <a:solidFill>
                  <a:sysClr val="window" lastClr="FFFFFF"/>
                </a:solidFill>
                <a:sym typeface="+mn-ea"/>
              </a:rPr>
              <a:t> 汇报结束  感谢聆听</a:t>
            </a:r>
            <a:r>
              <a:rPr lang="zh-CN" altLang="en-US" i="1" dirty="0">
                <a:solidFill>
                  <a:sysClr val="window" lastClr="FFFFFF"/>
                </a:solidFill>
                <a:sym typeface="+mn-ea"/>
              </a:rPr>
              <a:t>！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79576" y="423075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646" y="273617"/>
            <a:ext cx="7308714" cy="34668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ZDdjN2NjMDJjMDhlNTcyODdhZDcxZWMyYWM4YWYyMGQifQ=="/>
  <p:tag name="commondata" val="eyJoZGlkIjoiOTM4MjAwZGJhZDFiNTJiNThiNzJlM2NhZjg5ODk1NTYifQ==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73236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accent1"/>
            </a:gs>
            <a:gs pos="59000">
              <a:schemeClr val="accent1"/>
            </a:gs>
            <a:gs pos="100000">
              <a:schemeClr val="accent1"/>
            </a:gs>
          </a:gsLst>
          <a:lin ang="0" scaled="1"/>
          <a:tileRect/>
        </a:gradFill>
        <a:ln>
          <a:noFill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1200" cap="none" spc="0" normalizeH="0" baseline="0" noProof="0" dirty="0">
            <a:ln>
              <a:noFill/>
            </a:ln>
            <a:solidFill>
              <a:prstClr val="white"/>
            </a:solidFill>
            <a:effectLst/>
            <a:uLnTx/>
            <a:uFillTx/>
            <a:latin typeface="Calibri" panose="020F0502020204030204"/>
            <a:ea typeface="宋体" pitchFamily="2" charset="-122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73236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73236C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3326</Words>
  <Application>WPS 表格</Application>
  <PresentationFormat>宽屏</PresentationFormat>
  <Paragraphs>171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Helvetica Neue</vt:lpstr>
      <vt:lpstr>汉仪书宋二KW</vt:lpstr>
      <vt:lpstr>方正舒体</vt:lpstr>
      <vt:lpstr>华文宋体</vt:lpstr>
      <vt:lpstr>微软雅黑</vt:lpstr>
      <vt:lpstr>汉仪旗黑</vt:lpstr>
      <vt:lpstr>等线</vt:lpstr>
      <vt:lpstr>阿里巴巴普惠体 R</vt:lpstr>
      <vt:lpstr>阿里巴巴普惠体 M</vt:lpstr>
      <vt:lpstr>Candara</vt:lpstr>
      <vt:lpstr>华文楷体</vt:lpstr>
      <vt:lpstr>Segoe UI Light 8</vt:lpstr>
      <vt:lpstr>微软雅黑</vt:lpstr>
      <vt:lpstr>汉仪中等线KW</vt:lpstr>
      <vt:lpstr>宋体</vt:lpstr>
      <vt:lpstr>Arial Unicode MS</vt:lpstr>
      <vt:lpstr>等线 Light</vt:lpstr>
      <vt:lpstr>Thonburi</vt:lpstr>
      <vt:lpstr>苹方-简</vt:lpstr>
      <vt:lpstr>Candara</vt:lpstr>
      <vt:lpstr>等线</vt:lpstr>
      <vt:lpstr>阿里巴巴普惠体 M</vt:lpstr>
      <vt:lpstr>阿里巴巴普惠体 R</vt:lpstr>
      <vt:lpstr>1_Office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生命既哀</cp:lastModifiedBy>
  <cp:revision>85</cp:revision>
  <dcterms:created xsi:type="dcterms:W3CDTF">2025-04-12T11:36:28Z</dcterms:created>
  <dcterms:modified xsi:type="dcterms:W3CDTF">2025-04-12T11:36:28Z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0263D12D7724D19C835E6D6765AF6524_43</vt:lpwstr>
  </property>
  <property fmtid="{D5CDD505-2E9C-101B-9397-08002B2CF9AE}" pid="3" name="KSOProductBuildVer">
    <vt:lpwstr>2052-7.3.1.8967</vt:lpwstr>
  </property>
</Properties>
</file>